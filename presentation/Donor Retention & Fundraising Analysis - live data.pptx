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1" r:id="rId5"/>
    <p:sldId id="256" r:id="rId6"/>
    <p:sldId id="258" r:id="rId7"/>
    <p:sldId id="260" r:id="rId8"/>
    <p:sldId id="259" r:id="rId9"/>
    <p:sldId id="262" r:id="rId10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63" d="100"/>
          <a:sy n="63" d="100"/>
        </p:scale>
        <p:origin x="7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8DA03-7025-D8D2-1FC1-3899C99B7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40" y="277811"/>
            <a:ext cx="1076452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+mn-lt"/>
              </a:rPr>
              <a:t>DONOR RETENTION &amp; FUNDRAISING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067D-CAA7-AA63-30FA-6C8ACDC53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9638"/>
            <a:ext cx="10515600" cy="17860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spc="-150" dirty="0"/>
              <a:t>Project Overview</a:t>
            </a:r>
            <a:endParaRPr lang="en-US" spc="-150" dirty="0"/>
          </a:p>
          <a:p>
            <a:pPr marL="0" indent="0" defTabSz="0">
              <a:lnSpc>
                <a:spcPct val="100000"/>
              </a:lnSpc>
              <a:buNone/>
            </a:pPr>
            <a:r>
              <a:rPr lang="en-US" sz="2400" dirty="0"/>
              <a:t>An interactive Power BI reporting solution developed to </a:t>
            </a:r>
            <a:r>
              <a:rPr lang="en-US" sz="2400" dirty="0" err="1"/>
              <a:t>analyse</a:t>
            </a:r>
            <a:r>
              <a:rPr lang="en-US" sz="2400" dirty="0"/>
              <a:t> fundraising performance, donor characteristics, campaign contributions and donor engagement for a fictional wildlife conservation nonprofit.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7192B-9295-8F80-D82D-27459D4F700F}"/>
              </a:ext>
            </a:extLst>
          </p:cNvPr>
          <p:cNvSpPr txBox="1"/>
          <p:nvPr/>
        </p:nvSpPr>
        <p:spPr>
          <a:xfrm>
            <a:off x="975360" y="3004407"/>
            <a:ext cx="3408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Dataset:</a:t>
            </a:r>
            <a:r>
              <a:rPr lang="en-US" sz="1600" dirty="0"/>
              <a:t> </a:t>
            </a:r>
          </a:p>
          <a:p>
            <a:r>
              <a:rPr lang="en-US" sz="1600" dirty="0"/>
              <a:t>10,000 synthetic donation transactions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6762F-8FB8-00AD-211B-B37840B7ABAA}"/>
              </a:ext>
            </a:extLst>
          </p:cNvPr>
          <p:cNvSpPr txBox="1"/>
          <p:nvPr/>
        </p:nvSpPr>
        <p:spPr>
          <a:xfrm>
            <a:off x="975360" y="3615483"/>
            <a:ext cx="233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Period:</a:t>
            </a:r>
            <a:r>
              <a:rPr lang="en-US" sz="1600" dirty="0"/>
              <a:t> </a:t>
            </a:r>
          </a:p>
          <a:p>
            <a:r>
              <a:rPr lang="en-US" sz="1600" dirty="0"/>
              <a:t>2023–2025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74232D-5B7A-AFA6-4693-78CAE7686494}"/>
              </a:ext>
            </a:extLst>
          </p:cNvPr>
          <p:cNvSpPr txBox="1">
            <a:spLocks/>
          </p:cNvSpPr>
          <p:nvPr/>
        </p:nvSpPr>
        <p:spPr>
          <a:xfrm>
            <a:off x="838200" y="4226560"/>
            <a:ext cx="10515600" cy="1786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Project Objective</a:t>
            </a:r>
            <a:endParaRPr lang="en-US" sz="2400" dirty="0"/>
          </a:p>
          <a:p>
            <a:pPr marL="0" indent="0" algn="ctr">
              <a:buNone/>
            </a:pPr>
            <a:r>
              <a:rPr lang="en-US" sz="1900" dirty="0"/>
              <a:t>To develop an interactive reporting solution that provides decision-makers with a clear view of fundraising performance and donor </a:t>
            </a:r>
            <a:r>
              <a:rPr lang="en-US" sz="1900" dirty="0" err="1"/>
              <a:t>behaviour</a:t>
            </a:r>
            <a:r>
              <a:rPr lang="en-US" sz="1900" dirty="0"/>
              <a:t>, while identifying trends and patterns that can support data-informed fundraising decisions.</a:t>
            </a:r>
          </a:p>
        </p:txBody>
      </p:sp>
    </p:spTree>
    <p:extLst>
      <p:ext uri="{BB962C8B-B14F-4D97-AF65-F5344CB8AC3E}">
        <p14:creationId xmlns:p14="http://schemas.microsoft.com/office/powerpoint/2010/main" val="1474879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233680" y="238900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429055"/>
                  </p:ext>
                </p:extLst>
              </p:nvPr>
            </p:nvGraphicFramePr>
            <p:xfrm>
              <a:off x="721012" y="238901"/>
              <a:ext cx="10749976" cy="626770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238901"/>
                <a:ext cx="10749976" cy="626770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0854CB6-E729-FC15-7E18-CB9DB6AE6AF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700783388"/>
                  </p:ext>
                </p:extLst>
              </p:nvPr>
            </p:nvGraphicFramePr>
            <p:xfrm>
              <a:off x="838200" y="284480"/>
              <a:ext cx="10515600" cy="589248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D0854CB6-E729-FC15-7E18-CB9DB6AE6A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284480"/>
                <a:ext cx="10515600" cy="589248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5961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EF3D54F-9B05-FBF2-A526-FEE948BDF13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27028275"/>
                  </p:ext>
                </p:extLst>
              </p:nvPr>
            </p:nvGraphicFramePr>
            <p:xfrm>
              <a:off x="838200" y="172720"/>
              <a:ext cx="10515600" cy="600424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FEF3D54F-9B05-FBF2-A526-FEE948BDF1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172720"/>
                <a:ext cx="10515600" cy="60042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3302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5D4A146-3D49-540B-0B62-E09CDC99B16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33177058"/>
                  </p:ext>
                </p:extLst>
              </p:nvPr>
            </p:nvGraphicFramePr>
            <p:xfrm>
              <a:off x="838200" y="274320"/>
              <a:ext cx="10515600" cy="590264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75D4A146-3D49-540B-0B62-E09CDC99B16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274320"/>
                <a:ext cx="10515600" cy="59026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3843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1D00C-6C8C-65A5-B4DD-7F27563D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635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7C296-FAE5-D364-662D-60AB37EC1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041"/>
            <a:ext cx="10515600" cy="4460240"/>
          </a:xfrm>
        </p:spPr>
        <p:txBody>
          <a:bodyPr>
            <a:normAutofit/>
          </a:bodyPr>
          <a:lstStyle/>
          <a:p>
            <a:r>
              <a:rPr lang="en-US" sz="2400" dirty="0"/>
              <a:t>This project demonstrates how Power BI can be used to transform raw donation data into an interactive reporting solution that supports fundraising analysis and donor understanding.</a:t>
            </a:r>
          </a:p>
          <a:p>
            <a:r>
              <a:rPr lang="en-US" sz="2400" dirty="0"/>
              <a:t>The analysis brought together fundraising performance, donor characteristics, campaign contribution and engagement patterns into a single reporting framework.</a:t>
            </a:r>
          </a:p>
          <a:p>
            <a:r>
              <a:rPr lang="en-US" sz="2400" dirty="0"/>
              <a:t>The project also highlighted the importance of data validation, particularly when distinguishing transaction-level activity from donor-level information.</a:t>
            </a:r>
          </a:p>
          <a:p>
            <a:r>
              <a:rPr lang="en-US" sz="2400" dirty="0"/>
              <a:t>Overall, the analysis provides a foundation for monitoring fundraising performance, identifying donor patterns and supporting more informed fundraising and engagement decisions.</a:t>
            </a:r>
          </a:p>
          <a:p>
            <a:endParaRPr 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AF3015D-B25C-6B86-BE79-EA736788B4CA}"/>
              </a:ext>
            </a:extLst>
          </p:cNvPr>
          <p:cNvSpPr txBox="1">
            <a:spLocks/>
          </p:cNvSpPr>
          <p:nvPr/>
        </p:nvSpPr>
        <p:spPr>
          <a:xfrm>
            <a:off x="838200" y="5473999"/>
            <a:ext cx="10640060" cy="553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i="1" dirty="0">
                <a:latin typeface="+mn-lt"/>
              </a:rPr>
              <a:t>Power BI | Power Query | DAX</a:t>
            </a:r>
          </a:p>
        </p:txBody>
      </p:sp>
    </p:spTree>
    <p:extLst>
      <p:ext uri="{BB962C8B-B14F-4D97-AF65-F5344CB8AC3E}">
        <p14:creationId xmlns:p14="http://schemas.microsoft.com/office/powerpoint/2010/main" val="38348980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a612f2ee-2335-453a-9288-7f1cbfb074e4}">
  <we:reference id="WA200003233" version="2.0.0.3" store="en-US" storeType="OMEX"/>
  <we:alternateReferences/>
  <we:properties>
    <we:property name="Microsoft.Office.CampaignId" value="&quot;none&quot;"/>
    <we:property name="reportUrl" value="&quot;/groups/me/reports/38f572cd-a9d2-4606-9eae-7af3e60b9541/0de88fc2d56d3156851c?bookmarkGuid=2e86d75c-9582-44b3-a550-a68378e9c761&amp;bookmarkUsage=1&amp;ctid=b41ad745-d21e-496d-b5c1-3c84079708cc&amp;fromEntryPoint=export&quot;"/>
    <we:property name="reportState" value="&quot;CONNECTED&quot;"/>
    <we:property name="artifactViewState" value="&quot;live&quot;"/>
    <we:property name="reportEmbeddedTime" value="&quot;2026-09-28T10:10:44.975Z&quot;"/>
    <we:property name="creatorSessionId" value="&quot;915f3135-ca93-4f61-89d1-29cb305d372b&quot;"/>
    <we:property name="creatorUserId" value="&quot;100320035FD0E253&quot;"/>
    <we:property name="creatorTenantId" value="&quot;b41ad745-d21e-496d-b5c1-3c84079708cc&quot;"/>
    <we:property name="pageDisplayName" value="&quot;Executive Summary&quot;"/>
    <we:property name="pageName" value="&quot;0de88fc2d56d3156851c&quot;"/>
    <we:property name="reportName" value="&quot;Donor Retention &amp; Fundraising Dashboard&quot;"/>
    <we:property name="isVisualContainerHeaderHidden" value="false"/>
    <we:property name="isFiltersActionButtonVisible" value="true"/>
    <we:property name="initialStateBookmark" value="&quot;H4sIAAAAAAAAA+1aWXPbNhD+Kxm+9EXTAUCcfnNsp+0kzuWMO51OxrMAFjITilQpyrHr8X8veMiRHV2pcyh2XiRwce1+ewLkZeKzyTiHi+cwwmQneVyW70dQvX9Ek0FS9LQXL54e7r5+evJ89/AgkstxnZXFJNm5TGqohlgfZ5Mp5M0Kkfj320EyrnCC1Rk+xw9dX/zNbJZn9UWyU1dTHCSQ5y9h2EwIkE8iYYzVpCwgz/7Fbs6kG3o1SPB8nJcVNLse1VBjs/NZHB6fI3v01zQyBa7OzvAIXd1RiUetg2NeSJ9SIbWgLg6bdANa5hcOifSQ5XVcvWnai4PzcRWFupyBQYTnYEMwiEJSQgQIiOvWF+Omdy9yNyyrzEGetHxHIDo2L5O9Mp+O2tbBDfpROa0cvsbQdhV1C1ICRTaC/MSdQhUJJz5C0zB+UqErKz9JriIuL6syotYO/wuhammn5Ye9CiMbPtmhV4NrvmkgLEBklutUKCIFBdwCvl05LerqYiXrnio01mqaSmqt11o5uwWsX/e3jKwSAEigkgqGnhuOhGlC0i0QwMFoDNmwWMD720g5a71wryxqyIreHxgYNIZQT4z3lhhiLFvuMr2Au/4MChcXvi3d7nBY4RDq/vHg24mOI8jylvhkWvQhg92GgbQwTLJimPchqQ08betNJ5qDyvddMS7adzG6NCDEaXFXrB5ftDjsZ9UsLrHBLXG2DoModCRxCI5Lg8QZ69FB0J7/iIq+7odRE2luiUsfmMrXotEpXypmwAkO6Ki3yBUBsTYxGmqcJpZb50xMpZ4EPhel35Tj5/GpW6FZ4HiWvyM8T6py1C7VFyGTqf1nijEr3EbuaNYR269mjVUrNal5Y7AGSafiaASD5AjzqMB2rY1U0j20Wy5LcYMZVyHD3CfNLi++mcks52+1UZDGKAaN/qKBNA8zlFiT4O4M85+nWGGPcuGzmYB/3BJn8kUV0QoENsflk69N8Oqq9YqtK4pS0MpTg0oyC1ZoFeaLoh8uEpNPI/FHWSUocCaGpIBSUeDMG7JZ/fR7hhVU7vTiGZ5h/qlk1/1fUui5RWeqfPSR1ozouVmq6BvCK0XjCUW61GnGGdE8+Psh/LLyc156Gqt+gy5IGrRDyVCl4V5Iv/r0sEkdkk8nMZeifwzVXuSpvm/lSJ95uoN9nPVu7ujeK74Tbss1PZd22vSpqHOBMkadFyrW2EqmZm11RbmjRkiM9p9SFqxNkdzXcE+CN5BKh8E6QTxXKVcbyHoHM5jxfRxl666Z+jpgM2j2mzupq4/13fUyyQ1IrofN205DXGI4C+905oFCzlJirZWp5YEHF7QUXz04bidWr6YxAuJquDQipVLHYgmJNakDkfIHCtdhWdSnK8FSArxjhntEbVNrXbD+ITrhPiwqz9Zm5zwrcGFW/qrpbDshnMWxeyjaXNi5h9LNokRft0hwjHkNhiggjHBC/PK65Xtfbi9Jnmsdd5JnLip03muTEVbDVhceamilG3cbZdj1l77txlb4y+RZFgHp1j6GfNos+8t+nOHLD8UvsxuFZbGgnfEZ9x13BKjTrW40GgTjILRKiVRE0e3V7Z3PTg9GybeR6rXtNQajiZQUFHGKULf+cn/7XlP9VPRCkDodGyq41cKmRnitNKTMr4jWfdHnQImg41Sk3geUXBu3BS8q1/n73HWRo5QQZiEYTB2hQoPeoGo9RJhMq43T7Wey/6asIX+034/6P2Ycd5jWd7rk+cYSbnZx8x1Cn7FUpip1Wilg1iuuCTS7rIS/xvPaluc3sW9dnhvOpY6uooloTkhWkLVORjTl3CmqPI//8URqhbxfVzkP+B0qmWUDa5wkBIiyoWlyxeiKHDv7UEQr4tEZ6jDV2nPp2VZ8pLPJTb1jEN3BqFhCcsq0QdD0gZl1XSGOYHwvbXpJPP+tKqfj71DeILE6xOROCDKnJUeEbS5hl77n+1nBLng732lYMPA8gA6AMjaNNesDKLFCOZcKG4OPkFYpMv+6cJuDUOZveZ14qHl1ERKtTTTURV5QTuvJGBy+hAIXeENUNRQe/RqPaD9DTtpNzpqvlfN1LtR8nHztPFdX/wEFEpBPSi0AAA==&quot;"/>
    <we:property name="bookmark" value="&quot;H4sIAAAAAAAAA+1aWXPbNhD+Kxm+5EXTAUCcfkvspO1MkqZ1xp1OJ5NZAAuZCUWqFOXY9ei/FzykyI6u1DkUOS82ubj2+xZ7ANR14rPJOIerFzDC5Ch5XJbvRlC9e0CTQVJ0MuVTnYZgCCfcaJTS0zS2luM6K4tJcnSd1FANsT7LJlPIm4mi8O/Xg2Rc4QSrC3yB77u2+DezWZ7VV8lRXU1xkECev4RhMyBAPomCMVaTsoA8+xe7MZOu62yQ4OU4LytoVj2tocZm5YvYPb5HLelPjVLg6uwCT9HVnZR41Do45oX0KRVSC+pit0nXoVV+ZZcoD1lex9mbR3v15HJcRVDXc06I8BxsJAVRSEqIAAFx3vpq3LQeR+2GZZU5yJNW70hEp+Z1clzm01H79OSG/LScVg7/wNA2FXVLUgJFNoL8jTuHKgre+EhNo/ibCl1Z+Ukyi7y8rMrIWtv9L4SqlZ2X748rjGr45IjOBgu9aSAsQFSW61QoIgUF3AO9XTkt6upqo+qeKjTWappKaq3XWjm7B6ov2ltFNgEAEqikgqHnhiNhmpB0DwA4GI0hGxYrdH8dJRetFx6XRQ1Z0fsDA4PGEOqJ8d4SQ4xl612mB/jIX0Dh4sS30T0aDiscQt2/Pvl60HEEWd4Kn06LPmSw2zSQloZJVgzzPiS1gad9etVBc1D5vinGRfs2RpeGhDgsrorV46uWh5OsmsclNrgFZ+84iKCjiENwXBokzliPDoL2/Hs09KIdRk2kuQWX3jOTb2WjM75UzIATHNBRb5ErAmJrYjTUOE0st86ZmEo9CXwpSr8qxy/iWzdDM8HZPH9Hep5W5aidqq9FJlP7zxRjVrjN3Om8IT7/Pn/YNFOTmncma5B0Jo6bYJCcYh4N2M61k0m6l3bJdSluMNcqZJj7pFnlt6+2Zdbrt3lTkGZTDBr7xQ3SvMxZYk2CuzPNf55jhT3Lhc/mAH+9BWfyWQ3RAgKb4/rBiy04m7VesXdFUQpaeWpQSWbBCq3CclH03UVi8nEk/oBVggJnYkgKKBUFzrwhu9VPv2RYQeXOr57hBeYfI1u0f07QS5POTfngg6zp0Wuz1tA3wCtF4wlFutRpxhnRPPjDAL+u/FxGT2PVb9AFSYN2KBmqNBwE+s2nh13qkHw6ibkU/WOojqNO9aGVI33m6Q72cdTbpaN7b/gO3J5beinttOlTUecCZYw6L1SssZVMzdbqinJHjZAY939KWbA2RXKo4Z4EbyCVDoN1gniuUq52wHqHbTDX+yxi666Z+jpgN2pOmjup2Yf6bjFNcoOSRbflvdMI12yclXc6y0QhZymx1srU8sCDC1qKLx4c95Or36cxAuJmujQipVLHYgmJNakDkfJ7StfzsqjPN5KlBHjHDPeI2qbWumD9fXTCE1hVnm3NznlW4Mqs/EXT2X5SOI9jBwhtKewcILp5lOjrFgmOMa/BEAWEEU6IX1+3fOvL7TXJc6vjTvLMRYMue20ywmrY2sJDDS26cbdQhl176dtmbMFfJ8+ySEg39xnk02bahydxhC/fFw/nNwrrYkE74hPuO+5IUGdb3Vg0CMZBaJUSqYii+2vbO5+d7o2RbzPVW9trDEYTKSko4hShbvvl/v59pvph6JUkdTY2VHCrhU2N8FppSJnfEK37os+BEkHHoUi9Dyi5Nm4PPlRu8/el6yJHKSHMQjCYOkKFBr1D1focYTKtdk63n6j+q7KG/MFJ3+v/bOO4wrS+0yXPV0a428XNNwh9xlKZqtRppYBZr7gm0Kyykf4aL2tbXt7kvnV5bjiXOrqKJqI5IVlBtjoZ0ZRzp6jyPP6PJ1Ir5GFd5dzjb6hkng2scZIQIMqG5pErRjfk2PkPRbQiHp2hDlOtPZee7cWPdHa5qXcMojsYFUtITpk2CJres21dV4gjGB/knl4Tz3+uyun4G5Q3SKwOMbkTgsxpyRFhn0vYtd/5flSwK77OdxYWDDwPoAOgjI/Gmu0BlFihnEuFjcFHSKsUWf5cuM9BKPO3vE7c17y6iol2TzTSVV5QTuvJGBy+hAJXeEM0NRQe/RaPaH+GvHCG2ew/WPVoeCEtAAA=&quot;"/>
    <we:property name="datasetId" value="&quot;c30ccc4b-e74c-4a0f-ae25-4c9c950f23c6&quot;"/>
    <we:property name="embedUrl" value="&quot;/reportEmbed?reportId=38f572cd-a9d2-4606-9eae-7af3e60b9541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backgroundColor" value="&quot;#F9F7F2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259888F-1212-49C1-AEC8-36B6AE0CE0CC}">
  <we:reference id="wa200003233" version="2.0.0.3" store="en-US" storeType="OMEX"/>
  <we:alternateReferences>
    <we:reference id="WA200003233" version="2.0.0.3" store="" storeType="OMEX"/>
  </we:alternateReferences>
  <we:properties>
    <we:property name="reportUrl" value="&quot;/groups/me/reports/38f572cd-a9d2-4606-9eae-7af3e60b9541/78f32ce9d9fdb71a2249?bookmarkGuid=608072f8-a850-43c3-b59a-24aa842be9c3&amp;bookmarkUsage=1&amp;ctid=b41ad745-d21e-496d-b5c1-3c84079708cc&amp;fromEntryPoint=export&quot;"/>
    <we:property name="reportName" value="&quot;Donor Retention &amp; Fundraising Dashboard&quot;"/>
    <we:property name="reportState" value="&quot;CONNECTED&quot;"/>
    <we:property name="embedUrl" value="&quot;/reportEmbed?reportId=38f572cd-a9d2-4606-9eae-7af3e60b9541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78f32ce9d9fdb71a2249&quot;"/>
    <we:property name="pageDisplayName" value="&quot;Donor Insights&quot;"/>
    <we:property name="datasetId" value="&quot;c30ccc4b-e74c-4a0f-ae25-4c9c950f23c6&quot;"/>
    <we:property name="backgroundColor" value="&quot;#F9F7F2&quot;"/>
    <we:property name="bookmark" value="&quot;H4sIAAAAAAAAA+1a32/bNhD+VwK99MUbSEmUxLw1SYsNaLugGToMhREcyZOtRpYMSkriBv7fdxKdxE3t2Mm6TEn9EoQ8/rj77u47kvKVZ7JqmsPsA0zQ2/cOyvJsAvZsj3sDr3B9YerzJGLMxEaLEPzYT5Ck5bTOyqLy9q+8GuwI609Z1UDeLkSdn4cDb2qxQnuOH/DCyehvprI8q2fefm0bHHiQ58cwaiekkFfUMUVblQXk2Vd0cyo3dD7w8HKalxbaXU9qqLHd+ZyGU5u05L8GpBToOjvHE9S1642TNPA1SiNTo2IOvh9KGla5AZ3yK4e0S3fbH5ZFDVlB27R9jHGjIh1EDGiKMkHixqZZXi+GqNmby6klAK6u8TNc+4mKDefIpQQVKqlJh3o2baWvzTkUGo3XGUiIOXuuvNejkcUR1Ivmm2+Eh2XeTFb0n5SN1fgR005U1B3UHhTZBPJTPQZLHaeGAG6XPbWoS2sqb07oHtuSsO+G38hhUjZF3YnfNsUCU9Y2x+XFoUVygmk7Bje2apOACcNUBMagiLgKw/jW1kOaMCptpiH/ztzfMrRg9Xj2Ds8x/96yG/mPNHppUY/C8HRky2a6d9vbjlnocyv37gMg1RgbnyWRFHGcRjwCwV4IACMsDNoV1g+pp8qKUb5I2dvs+dOZrfOmovxA48L2kDSqWwZRXygP26yhBUgltAezLnGOMnudwXywDoa+wrQcJ21gPGtjbnw+H16TKxHFlyX6XIS0c1zv7Vl2zrD1j8cwZkKhQAUoNchAxOF6St8ij5+GmjtFHpGKVZ5pcuhy8nkTpPLd/mOghs7MqdsxQycvTSfGDoUr711GyLi1P0HetMu+OqIZprwoXrWx0mG7Jl66GVW3y5Mi5bztA/dF4AcMUIQq4izEqL/etpiitW5CUVAAr6w8L+ggsTF806bDYbva4d+l2x4jsR2/PnW0uaQJUjrJyUQZX2qmI1BJhBtPvRJ8oSNN9wbNhFahZJFZdxByC3XscH2eJ9+9teWkW3FxNwEaubVtA89FDGuB/WtMh48FgIXJrv3/+x0kH8BKrtEptYl3BreU93k1d76nO8Y4n7XUORx25NmjmsL7TTE4gSy/k07+Y46oYM1C9OzIZQ0GrggLDrEJUwbSQMJ9LYSON1a8naOfoaNFgilXWimDsU6kEiFrN7sXjRova1VefgtFt5qRjANGgVFaKyTyj+4Jmx3nP5Tz/yjwlzqb4I70d1zw47lAGiL7NIUgaTOYBYqH91xzFtmbBCkmkErkUutIsdTItdnbm0hdfnvjkSb1WSpCCH0RxUZr87IeWjdG9LgpjEVzjKRcUZ/UoM/QHIB9yJNbj4J8i2tT99AQogCRhoEfMio5ICLV41u9hskUslGxe77ZDiR3CQWiNCWVHysugOgppJvo48+x7xGqxuJ/pPxH1I215Me9o7IobfWoN/N/XZue3EYXNipOFaM7RxCBSQRHYEGPk3HtR42f4gA0zfCZVoa1x5///RntJqIcb+lYxxEH7ss4CmOeQIA9/r6g2zJrZ7vStBVGzsNp7CshiOlQKykDP2YS+uvhvxEe9Q33p3HvAqBhp858tb1lU1dT0HgMBa6wm+wFIgGzwfbuJy83Zs/n/wAy+VThjSMAAA==&quot;"/>
    <we:property name="initialStateBookmark" value="&quot;H4sIAAAAAAAAA+1abW/bNhD+K4W+9Is3kJIoifmWJi02tGmDZOgwFEZwJE+2WlkyKCmNF/i/70g5L23t2Mm6zGn9xbB4fLl77u45ktJlYIpmWsLsLUww2Ate1PWnCdhPz3gwCKpF27t3r4/2T16fvd0/eknN9bQt6qoJ9i6DFuwI2/dF00HpZqDGD8NBMLXYoD3Ht/i5l9FvoYqyaGfBXms7HARQlscwcgNyKBtqmKJt6grK4m/sxzR91/kgwItpWVtwq5620KJb+Zy60zOpx3+NSCnQbXGOp6jbvjXN8ijUKI3MjUo5hGEsqVvTd/DKL+3ipvbLH9RVC0VFy7g2xrhRiY4SBjREmSjr++ZF2S66qNnLi6klAC6vgDNch5lKDefIpQQVK6lJh3Y2ddJ9cw6VRhN4Awmx3p7LYH80sjiCdvH48gvhQV12kyXtp3VnNZ5g7kVV66EOoComUJ7pMVhqODMEsJv2zKKurWmCOaF7bGvC3ne/lsOk7qrWi1911QJT5h7H9ecDi+QE4xoG17Zqk4GJ41xExqBIuIrj9MbWAxowqm2hofzG3N8KtGD1ePYGz7H81rJr+fc0+takAYXh2cjW3fTZTavrs9DnRh7cBUCuMTUhyxIp0jRPeAKC/SAAjLAyaJdYP6SWpqhG5SJlb7Lnj95sXXYN5QeaPmwPSKPWMYj6SHnosoYmIJXQvpj5xDks7FUG88EqGLYVpttx4gLjSRtz7fP58IpciSg+3qLPRUj3jtt6e247Z+j8EzBMmVAoUAFKDTISabya0jfI48ehZq/IA1KxKQtNDr2dfMEEqXy7PwZa8GZO+xUL7OW18WL0KFwGbwpCpp/7PZSdm/b5IY0w9efquYsVj+2KePEjGr/KoyLVezsEHooojBigiFXCWYzJ9nrbYo7W9gOqigJ4aeX5gTYSa8M37zwOm9WO8Gu63WIkNuPXx462PmminHZyMlMmlJrpBFSW4Npdr4RQ6EQnjGkmtIolS8yqjVA/kWeHq/08+e6VrSd+xsWhBKjnxrYNgj5imAP2zzFtPhYAVqa48v/vXyF5D1bqH7xS63hncEN5H5Zz5xGdMcblzFHncOjJc4tqCt9uisEJFOVX6RQ+ZIsK1ixET45cVmDQF2HBITVxzkAayHiohdDp2oq3c/QTdLTIMOdKK2Uw1ZlUImZusTvRaPGiVfXFl1D42YxkHDCJjNJaIZF/ckfY7Dj/vpz/rsJf2mKCO9LfccH35wJpiOzzHKLMZTCLFI/vOOYssjeLcswgl8il1oliuZErs3drIvX23RtPNKnPchFDHIokNVqbH+uidW1Ej7vKWDTHSMpV7WkL+hOaF2Dvc+W2RUG+wbHJXzTEKEDkcRTGjEoOiERt8alew2QKxajaXd9sBlJ/CAWiNCVVmCougOgpppPow/exRwhNZ/E/Uv4EdWct+fHZYV3VtnnQnfm/rk2PbmMfNirNFaMzR5SAyQRHYNEWJ+PKlxo/xQZoWuATrQwrtz//+zXadUT1vKVTnSYceCjTJE55BhFu8fsF7cqsne1K00YY9R7O01AJQUyHWkkZhSmTsL0e/gvhQe9wfxr3LgAaenXmy+2tu7aZgsZjqHCJ3WQvEAmYNbb7T178W2IHdaHKdWC5D2GuYZrP/wEd4OPDtiMAAA==&quot;"/>
    <we:property name="isFiltersActionButtonVisible" value="true"/>
    <we:property name="isVisualContainerHeaderHidden" value="false"/>
    <we:property name="reportEmbeddedTime" value="&quot;2026-09-28T10:28:40.702Z&quot;"/>
    <we:property name="creatorTenantId" value="&quot;b41ad745-d21e-496d-b5c1-3c84079708cc&quot;"/>
    <we:property name="creatorUserId" value="&quot;100320035FD0E253&quot;"/>
    <we:property name="creatorSessionId" value="&quot;ac211604-7c05-4111-a50e-5bbd1d161441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A75F8040-14C7-4076-BC91-D26D5CFDDEF9}">
  <we:reference id="wa200003233" version="2.0.0.3" store="en-US" storeType="OMEX"/>
  <we:alternateReferences>
    <we:reference id="WA200003233" version="2.0.0.3" store="" storeType="OMEX"/>
  </we:alternateReferences>
  <we:properties>
    <we:property name="reportUrl" value="&quot;/groups/me/reports/38f572cd-a9d2-4606-9eae-7af3e60b9541/b2f32ea049ba54731c40?bookmarkGuid=ce08d5cd-acae-4e60-99e7-18056ee14f53&amp;bookmarkUsage=1&amp;ctid=b41ad745-d21e-496d-b5c1-3c84079708cc&amp;fromEntryPoint=export&quot;"/>
    <we:property name="reportName" value="&quot;Donor Retention &amp; Fundraising Dashboard&quot;"/>
    <we:property name="reportState" value="&quot;CONNECTED&quot;"/>
    <we:property name="embedUrl" value="&quot;/reportEmbed?reportId=38f572cd-a9d2-4606-9eae-7af3e60b9541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b2f32ea049ba54731c40&quot;"/>
    <we:property name="pageDisplayName" value="&quot;Campaign &amp; Fundraisig&quot;"/>
    <we:property name="datasetId" value="&quot;c30ccc4b-e74c-4a0f-ae25-4c9c950f23c6&quot;"/>
    <we:property name="backgroundColor" value="&quot;#F9F7F2&quot;"/>
    <we:property name="bookmark" value="&quot;H4sIAAAAAAAAA+1ZTW/bRhD9KwEvuQjFfnF36VvspOghCIy6CFAUhjC7O5SZUCSxpGyrhv57l1xGtmPZct00kRxfBHBmv96bebND6ipxRduUsPwAc0wOksO6/jwH//kVTSZJFW1CSc2so5k1XChLhHYQvHXTFXXVJgdXSQd+ht3Hol1A2S8UjH+dTpLGY4v+HD/gRfSF38IUZdEtk4POL3CSQFkew6yfkEPZBkODvq0rKIu/Mc5p49DVJMHLpqw99LuedNBhv/N5GB6ewynpLzwcCmxXnOMJ2i5aDcs5QyAiM5AKxakVJAxr44Dh8BuH9EsP2x/VVQdFFbbpbcRyaTWhHFPpUFErtevteVF24xCzfHfZ+EBAoGXZ9Py9cedQWXTJACFwEk98lbyZzTzOoBsf391yHtXlYr7BflIvvMXfMR9cVTeQmUBVzKGc2jPwwTB1gcJ+2alHW3vXJqvA37GvA7vD8LUf5vWi6gb3r4tqZI32j2f1xZHHQHMASFanwdIW1awco3JN0B8RpAXvRldIDfMpENzTEaaF/dEfLgdG3hb+S2jY5CtgO8xGgB9MVBHiDOR5hlqjMApj8B/kpcPLztSXt0npV2OcUUkMo4QykaZSMCbuT6VRihpy7ZgGhNRlxLkUTJ/1Y6IdhWjNal/YIQj4/Qis8KItsQvnnoaqMC2q5G4GTdYguGVKQG4JD6ilIJmh9BrE3qmFPEUt5aINbKGL5z4KB+mem25Ir5svFTnM+nSj5o6ZGsF999Q8jQJMjeWKaaK1tMQaJZBsreU/TGINLOdYddM5dme126yv3VUQzqEov8oP9gTdhH0W3Z6q5R4OdkAjd3JrFIjkYLQwVKJmgnER7qp9bHY2SOe/ZeE+9zrbyIitDtOKM0EFqtDpsJSjSenW5iQXGUWDmgsQGqVwOkuf171+3cNQJUyGmENKiUNppM3p4xqx3wr04O3Z8j2eY3kX2dr/LUHfWDRk77yBYla9ujb2Q8bjrN0PtnCobGY0x5woR4wTnGfiecD3mKP3ccGqwvJBGmSoiaGJzTjRCJQrk6XsedCwtd14fIt7CH5Pb+xv1N/ueqxvKD5e/BKdMGgyIimFNKUATu/jxX+rlP28V/79NMTLPuPOpSRlnFlE7ggSnm297ClQo5xVkssMjFRC5bgDXyL+VfmmubEihzz8SOu4cini82pYXj5E7MyHiA2ZGastMGdQ8IxxJzHFjAj3wIfA3U3OjdL7eavudjpi9QUOYKlymdQCJbE2zR6ovj+6vv6J4J/SDbZlYdHfimIyRz8b/sRx0MGArokbFRj9tRvcOIC/St4XgZC49kcoF/2yr9+GGa6+qF6HQ60Z3ST0YUb7/8t8JChK24R3gsyF9gm1zJk2Ko2IdjO2tq+dfvkS3kdxNEZY6dzkmlOhkBCbW5fZHY7w/e/2LyHeQNLpcKTVZsz1omsbsHgMFW7AHjBD5dBtwT/87b2Gvlr9A3fu3YqRHwAA&quot;"/>
    <we:property name="initialStateBookmark" value="&quot;H4sIAAAAAAAAA+1Z227bOBD9lUIvfTEWvImi8pakWSzQNg3aRYHFIjCG5MhRK0sCRTvxBv73Upc6SePE2Wy3tdO8GNAMb+fMnOFYuoxs3tQFLI5hitFedFBVn6fgPr+g0SgqB9u7d6/f7r9/PT7ef3sUzFXt86psor3LyIOboP+YNzMo2hWC8e/TUVQ7bNDN8RjPe1/4zXVe5H4R7Xk3w1EERXECk3ZCBkUTDDW6piqhyP/Bfk7TD12OIryoi8pBu+sHDx7bnedheHgOx6O/8XAoMD6f4wc0vrdqlnGGQESqIRYJp0aQMKzpB3SHXzukXbrb/rAqPeRl2Ka1EcOlUYRyjKXFhBqpbGvP8sIPQ/Ti6KJ2gYBAy6Juidu3cygN2qiDEDjpT3wZ7U8mDifgh8ejG87DqphN19g/VDNn8D1mnav0HZkRlPkUirE5AxcMYxsobJcdOzSVs020DPyduCqw2w1f+WFazUrfuX+flQNrtH08q84PHQaaA0CyPA2WJi8nxRCVK4L+7EEacHZwhdTQnwLBLR1hWtgf3cGiY+RV7r6Gho2+AbbFbAT4wUQTQqyGLEtRKRQ6wT749/Li8cLr6uImKe1qjDMqiWaUUCbiWArGxN2pNGhQQaYsU4AQ25RYG4Nus35ItMMQrUnlctMFAX8cgSWeNwX6cO5xqArjvIxuZ9BoBYIblgjIDOEBtRQk1ZRegdg5tZDHqKWYNYEttP25D8NB/FPTDWl187Uih1mfrtXcIVN7cD88NU97Acba8IQpopQ0xOhEINlYy3+axGpYTLH04yn6s8qu19f2KginkBff5Ad7hG7CPjO/o2q5g4Mt0Mit3BoEIjloJTSVqJhgXIS7ahebnTXS+W9ZuMu9ziYy+laHqYQzQQUmodNhMUcd043NSSZSihoVFyAUSmFVGj+te/2qh6GJ0CliBjElFqWWJqMPa8T+yNGBM2eLNzjH4jaylf97gr62aMjeaQ35pHxxZWyHDMdZue9t4TAxqVYcM5JYoq3gPBVPA77DDJ3rFyxLLO6lQYaaGJrYlBOFQHmi05g9DRo2thsPb3EPwO3ojf2d+tttj/U1xfcXv0QrNOqUSEohjimAVbt48d8oZb/ulX83Df1ln3JrYxIzzgwitwQJTzde9hSoTqxJJJcpaJmIJMMteBPxr8o3zbQRGWThRxrLExsjPq2G5flFxNa8iFiTmX21BWY1Cp4ybiXGmBJh73kRuL3JuVZ6v27V3UxHX32BAxia2FQqgZIYE6f3VN+fXV//QnCP6QabIjfobkQxmqKbdB9xLHjo0NX9Rjn2/sp2buzAX0Zv8kBIv/ZHKGbtsi9fhRm2Oi9fhkOtGF0n9G5G8//LfCCol7YO/wlSG9onVDJjSidxj2g7Y2va2ukWz+F9EEdDhBOV6UxxKhIkxGTGpmaLI3z3f/vnEK8h6bQ70nI95mrmmxoMnkCJa7AHzFBatBvwd5+9o26Teft1vNhEWPsxfEXVcvkFwgoZUrofAAA=&quot;"/>
    <we:property name="isFiltersActionButtonVisible" value="true"/>
    <we:property name="isVisualContainerHeaderHidden" value="false"/>
    <we:property name="reportEmbeddedTime" value="&quot;2026-09-28T10:31:41.025Z&quot;"/>
    <we:property name="creatorTenantId" value="&quot;b41ad745-d21e-496d-b5c1-3c84079708cc&quot;"/>
    <we:property name="creatorUserId" value="&quot;100320035FD0E253&quot;"/>
    <we:property name="creatorSessionId" value="&quot;e92ba7ca-2058-4c3b-99ab-a5a5a10f61a1&quot;"/>
    <we:property name="artifactViewState" value="&quot;live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61990176-463A-4C6F-B68B-FC4F4A3E7804}">
  <we:reference id="wa200003233" version="2.0.0.3" store="en-US" storeType="OMEX"/>
  <we:alternateReferences>
    <we:reference id="WA200003233" version="2.0.0.3" store="" storeType="OMEX"/>
  </we:alternateReferences>
  <we:properties>
    <we:property name="reportUrl" value="&quot;/groups/me/reports/38f572cd-a9d2-4606-9eae-7af3e60b9541/31615f88d58adea9cde5?bookmarkGuid=238614ac-95f8-4b23-a410-22e021f96723&amp;bookmarkUsage=1&amp;ctid=b41ad745-d21e-496d-b5c1-3c84079708cc&amp;fromEntryPoint=export&quot;"/>
    <we:property name="reportName" value="&quot;Donor Retention &amp; Fundraising Dashboard&quot;"/>
    <we:property name="reportState" value="&quot;CONNECTED&quot;"/>
    <we:property name="embedUrl" value="&quot;/reportEmbed?reportId=38f572cd-a9d2-4606-9eae-7af3e60b9541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31615f88d58adea9cde5&quot;"/>
    <we:property name="pageDisplayName" value="&quot;Summary &amp; Recommendations&quot;"/>
    <we:property name="datasetId" value="&quot;c30ccc4b-e74c-4a0f-ae25-4c9c950f23c6&quot;"/>
    <we:property name="backgroundColor" value="&quot;#F9F7F2&quot;"/>
    <we:property name="bookmark" value="&quot;H4sIAAAAAAAAA51RwW7CMAz9lSnnaqKlLQ3H7TohJCYuiIPTuCgjJFXiMhji3+e0SFx22sVxXp7fc+yb0Cb2Fq4rOKFYijfvjycIx5dcZMJNGNRaymZe6bZQWisAXMz41fdkvItieRME4YC0NXEAm4QY3O0z0QeMGM64wu/pjaNRxhq6iiWFATMB1q7hkAo6sJGBHkP0Dqz5wakmTtR7JvDSWx8guW4ICJPzmel85y7z1zk3BS2ZM26wpQmd53VedU2jqwY0gmw1VkyLE2Fs/k9Kkh7t370jMI5tEparctGpTjVl2ULRdTVWRcKjcQf7aPhZ+3nt0/wIL6T8JY1MfbFxUrrf+UM15rKo81pKXcyUkrKs8L9qo+ATESfklaTEDxR7aHENju+7G2/F85DJ4MjjoYLTqB95SOeHIQyT9RbskFzH7YjRZp/CL3mEoLk4AgAA&quot;"/>
    <we:property name="initialStateBookmark" value="&quot;H4sIAAAAAAAAA51Ry07DMBD8FeRzhEiahKS3gjiVPkRRL1WF1smmMnXjyHZCS9V/Zzep1AsSEhc/xrMz492zKJVrNJzmcEAxFk/G7A9g93ehCER9xRaL6WzyNv2YT2YvBJvGK1M7MT4LD3aHfq1cC5oVCNxsA9FYdGg7nOPX8EarkkorfxJjb1sMBGi9hB0XVKAdAQ1aZ2rQ6huHGjdQL4HAY6ONBXZdefDIzh3R6U7xwvsRhYLCqw5XWPgBHYVpmFRZViYZlAh5UWJCNDcQ+vC/Uli6t382tQdVkw1joYwfK1nJLI4LiKoqxSRi3Kl6p6+Bb7Xvp4Yb5/HopTlyy+QnGbPS5UIfSjHMozRM87yMHqTM8zjB/6r1gjdEHJBGwgfTetdAgUuo6b4501QMNdkr7HnUVKhLLK9ny/ur8mgH6zXoll376YjepOMhavyjgGcm+lhbXn4A7MuwGWECAAA=&quot;"/>
    <we:property name="isFiltersActionButtonVisible" value="true"/>
    <we:property name="isVisualContainerHeaderHidden" value="false"/>
    <we:property name="reportEmbeddedTime" value="&quot;2026-09-28T10:32:57.882Z&quot;"/>
    <we:property name="creatorTenantId" value="&quot;b41ad745-d21e-496d-b5c1-3c84079708cc&quot;"/>
    <we:property name="creatorUserId" value="&quot;100320035FD0E253&quot;"/>
    <we:property name="creatorSessionId" value="&quot;ef8923eb-55a5-4995-ad8a-4a4d087b3a2c&quot;"/>
    <we:property name="artifactViewState" value="&quot;liv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176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DONOR RETENTION &amp; FUNDRAISING ANALYTICS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Damaris Nafula</cp:lastModifiedBy>
  <cp:revision>4</cp:revision>
  <dcterms:created xsi:type="dcterms:W3CDTF">2018-06-07T21:39:02Z</dcterms:created>
  <dcterms:modified xsi:type="dcterms:W3CDTF">2026-09-28T11:36:47Z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